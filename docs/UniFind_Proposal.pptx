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651760"/>
            <a:ext cx="5029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Georgia"/>
              </a:rPr>
              <a:t>UniFind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AE6FD"/>
                </a:solidFill>
                <a:latin typeface="Calibri"/>
              </a:rPr>
              <a:t>Lost &amp; Found App for University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2190512 Application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[Group Name]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365760"/>
            <a:ext cx="2286000" cy="2286000"/>
          </a:xfrm>
          <a:prstGeom prst="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24160" y="2377440"/>
            <a:ext cx="1645920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278892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latin typeface="Calibri"/>
              </a:rPr>
              <a:t>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Georgia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85800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097280"/>
            <a:ext cx="9601200" cy="65836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216152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Calibri"/>
              </a:rPr>
              <a:t>Background &amp; Problems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685800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2011680"/>
            <a:ext cx="9601200" cy="65836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130552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Calibri"/>
              </a:rPr>
              <a:t>Scope of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685800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2926080"/>
            <a:ext cx="9601200" cy="65836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044952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Calibri"/>
              </a:rPr>
              <a:t>Application Features &amp; Functionalities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685800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3840480"/>
            <a:ext cx="9601200" cy="65836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Calibri"/>
              </a:rPr>
              <a:t>Limitations of the Application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685800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4754880"/>
            <a:ext cx="9601200" cy="65836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4873752"/>
            <a:ext cx="9235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Calibri"/>
              </a:rPr>
              <a:t>Technology Stack 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914400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Georgia"/>
              </a:rPr>
              <a:t>Background &amp;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7512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93B"/>
                </a:solidFill>
                <a:latin typeface="Calibri"/>
              </a:rPr>
              <a:t>  •  University campuses are large — students frequently lose wallets, keys, student IDs, laptops, AirPods, and more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E293B"/>
                </a:solidFill>
                <a:latin typeface="Calibri"/>
              </a:rPr>
              <a:t>  •  Current solutions are fragmented: Facebook groups, paper notice boards, security office drop-offs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E293B"/>
                </a:solidFill>
                <a:latin typeface="Calibri"/>
              </a:rPr>
              <a:t>  •  No unified, searchable, campus-specific platform exists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E293B"/>
                </a:solidFill>
                <a:latin typeface="Calibri"/>
              </a:rPr>
              <a:t>  •  Finders and losers cannot find each other efficiently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E293B"/>
                </a:solidFill>
                <a:latin typeface="Calibri"/>
              </a:rPr>
              <a:t>  •  Privacy risks: students must post personal details on public social media groups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E293B"/>
                </a:solidFill>
                <a:latin typeface="Calibri"/>
              </a:rPr>
              <a:t>  •  Security offices have no digital integration with 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822960"/>
            <a:ext cx="3566160" cy="2286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822960"/>
            <a:ext cx="109728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7" y="914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400E"/>
                </a:solidFill>
                <a:latin typeface="Calibri"/>
              </a:rPr>
              <a:t>💡 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1325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78350F"/>
                </a:solidFill>
                <a:latin typeface="Calibri"/>
              </a:rPr>
              <a:t>"Items get lost forever —</a:t>
            </a:r>
          </a:p>
          <a:p>
            <a:pPr algn="l"/>
            <a:r>
              <a:rPr sz="1300" b="0" i="1">
                <a:solidFill>
                  <a:srgbClr val="78350F"/>
                </a:solidFill>
                <a:latin typeface="Calibri"/>
              </a:rPr>
              <a:t>not because no one found them,</a:t>
            </a:r>
          </a:p>
          <a:p>
            <a:pPr algn="l"/>
            <a:r>
              <a:rPr sz="1300" b="0" i="1">
                <a:solidFill>
                  <a:srgbClr val="78350F"/>
                </a:solidFill>
                <a:latin typeface="Calibri"/>
              </a:rPr>
              <a:t>but because there's no easy way</a:t>
            </a:r>
          </a:p>
          <a:p>
            <a:pPr algn="l"/>
            <a:r>
              <a:rPr sz="1300" b="1" i="1">
                <a:solidFill>
                  <a:srgbClr val="78350F"/>
                </a:solidFill>
                <a:latin typeface="Calibri"/>
              </a:rPr>
              <a:t>to connect finders and losers."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12080"/>
            <a:ext cx="2194560" cy="14173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21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EA5E9"/>
                </a:solidFill>
                <a:latin typeface="Calibri"/>
              </a:rPr>
              <a:t>300+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Items lost per
semester (est.)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5212080"/>
            <a:ext cx="2194560" cy="14173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5321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EA5E9"/>
                </a:solidFill>
                <a:latin typeface="Calibri"/>
              </a:rPr>
              <a:t>&lt; 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897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Recovery rate
without a 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5212080"/>
            <a:ext cx="2194560" cy="14173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5321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EA5E9"/>
                </a:solidFill>
                <a:latin typeface="Calibri"/>
              </a:rPr>
              <a:t>48h+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5897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Average wait to
resolve a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914400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Georgia"/>
              </a:rPr>
              <a:t>Scope of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7512"/>
            <a:ext cx="2011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5349240" cy="56692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68680"/>
            <a:ext cx="5349240" cy="4754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9611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✅  In Scope (v1)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Single university campus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Verified university students and staff only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iOS and Android mobile app (React Native)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Web admin dashboard for security office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Item reporting (lost &amp; found) with photos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Search and browse listings with filters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In-app messaging between finder and loser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Claim and ownership verification flow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Push notifications for matches and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868680"/>
            <a:ext cx="5349240" cy="566928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868680"/>
            <a:ext cx="5349240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89611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🚫  Out of Scope (v1)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41732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Multi-campus or multi-institution support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External / non-university users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Monetary transactions or rewards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AI / computer vision image matching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Real-time WebSocket chat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Mobile web for students (mobile-first only)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Automated ML content moderation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293B"/>
                </a:solidFill>
                <a:latin typeface="Calibri"/>
              </a:rPr>
              <a:t>  •  Item insurance or liability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914400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Georgia"/>
              </a:rPr>
              <a:t>Application Features &amp; Functionalities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7512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Core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25880" y="1463040"/>
            <a:ext cx="822960" cy="82296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904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Calibri"/>
              </a:rPr>
              <a:t>University 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62072"/>
            <a:ext cx="2194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Sign in with university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JWT session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03250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University SSO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2344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2344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463040"/>
            <a:ext cx="822960" cy="82296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4904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04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Calibri"/>
              </a:rPr>
              <a:t>Report Lost / Found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862072"/>
            <a:ext cx="2194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Title, category, photos (up to 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Campus map location tagging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403250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Date, description, tags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2344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2344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1463040"/>
            <a:ext cx="822960" cy="82296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4904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404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Calibri"/>
              </a:rPr>
              <a:t>Search &amp; Browse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862072"/>
            <a:ext cx="2194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Full-text keyword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Filters: category, date, 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03250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Paginated feed sorted by recency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12344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12344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04120" y="1463040"/>
            <a:ext cx="822960" cy="82296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14904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🗺️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404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Calibri"/>
              </a:rPr>
              <a:t>Map 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20" y="2862072"/>
            <a:ext cx="2194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Items pinned on campus 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Tap pin to see item summary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403250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Filters applied to map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914400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Georgia"/>
              </a:rPr>
              <a:t>Application Features &amp; Functionalities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7512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Advanced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25880" y="1463040"/>
            <a:ext cx="822960" cy="8229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904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Calibri"/>
              </a:rPr>
              <a:t>Smart Matching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62072"/>
            <a:ext cx="2194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Auto-match lost &amp; found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Category + keyword + location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03250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Push notification within 5 minutes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2344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2344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463040"/>
            <a:ext cx="822960" cy="8229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4904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04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Calibri"/>
              </a:rPr>
              <a:t>In-App Messaging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862072"/>
            <a:ext cx="2194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Secure chat: finder ↔ loser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Phone/email sharing blocked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403250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Admin-reviewable logs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2344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2344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1463040"/>
            <a:ext cx="822960" cy="8229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4904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404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Calibri"/>
              </a:rPr>
              <a:t>Claim &amp; Verify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862072"/>
            <a:ext cx="2194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Formal ownership proof required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Finder approves or rejects claims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03250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Multiple claims handled fairly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12344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12344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04120" y="1463040"/>
            <a:ext cx="822960" cy="8229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14904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🛡️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404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Calibri"/>
              </a:rPr>
              <a:t>Admin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20" y="2862072"/>
            <a:ext cx="2194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2971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Physical depot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Content moderation queue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403250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• Platform analytics &amp; CSV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914400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Georgia"/>
              </a:rPr>
              <a:t>Key User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751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📱  Item Loser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44168"/>
            <a:ext cx="173736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45336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1636776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344168"/>
            <a:ext cx="173736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545336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Report
Lost 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1636776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344168"/>
            <a:ext cx="173736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545336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Browse
Found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1636776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344168"/>
            <a:ext cx="173736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545336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Submit
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1636776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344168"/>
            <a:ext cx="173736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545336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Chat with
Finder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1636776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344168"/>
            <a:ext cx="173736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1545336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Confirm
Receipt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63240"/>
            <a:ext cx="112471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118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📱  Item Finder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566160"/>
            <a:ext cx="173736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767328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Login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8568" y="385876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566160"/>
            <a:ext cx="173736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3767328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Report
Found Item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8" y="385876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3566160"/>
            <a:ext cx="173736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3767328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Receive Match
Notification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7608" y="385876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3566160"/>
            <a:ext cx="173736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767328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Review
Claim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8" y="385876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3566160"/>
            <a:ext cx="173736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767328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Chat with
Loser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385876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0" y="3566160"/>
            <a:ext cx="173736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3767328"/>
            <a:ext cx="1673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Hand Over
Item 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212080"/>
            <a:ext cx="11247120" cy="14173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32180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E293B"/>
                </a:solidFill>
                <a:latin typeface="Calibri"/>
              </a:rPr>
              <a:t>💡  Both flows meet at the Claim &amp; Verification step — ensuring items return to the rightful owner through a structured, privacy-safe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91440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Georgia"/>
              </a:rPr>
              <a:t>Limitations of the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7512"/>
            <a:ext cx="25603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576072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68680"/>
            <a:ext cx="109728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9784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⚠  Single campus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v1 targets one university; multi-campus support deferred to 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76072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4144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⚠  No real-time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34639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Messages use polling (10–30 sec delay); WebSocket deferred to 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576072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109728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0448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⚠  No AI image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Matching is rule-based (category + keywords + location); CV deferred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57800"/>
            <a:ext cx="576072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257800"/>
            <a:ext cx="109728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6752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⚠  Admin adoption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60720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Dashboard value depends on security staff actively using the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868680"/>
            <a:ext cx="576072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868680"/>
            <a:ext cx="109728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9784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⚠  Network dependency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371600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App requires internet connection; offline mode is limited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331720"/>
            <a:ext cx="576072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2331720"/>
            <a:ext cx="109728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44144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⚠  No reward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834639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Item returns depend on goodwill; no incentive mechanism in v1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794760"/>
            <a:ext cx="576072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794760"/>
            <a:ext cx="109728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90448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⚠  Manual moderation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297680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Chat moderation uses keyword filters + admin review, not 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914400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Georgia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7512"/>
            <a:ext cx="2011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4748B"/>
                </a:solidFill>
                <a:latin typeface="Calibri"/>
              </a:rPr>
              <a:t>All technologies are from the 2190512 Application Development curriculum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109728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316736"/>
            <a:ext cx="1188720" cy="274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3258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Weeks 12–14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Mobile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09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React Native (TypeScript)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90088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90088"/>
            <a:ext cx="109728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3099816"/>
            <a:ext cx="1188720" cy="274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3108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Weeks 10–11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546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Web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93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HTML + CSS + JavaScript / 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73168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773168"/>
            <a:ext cx="109728" cy="1600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97480" y="4882896"/>
            <a:ext cx="11887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4892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3775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Backend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76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Flask (Python)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1207008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1207008"/>
            <a:ext cx="109728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1316736"/>
            <a:ext cx="118872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3258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Weeks 5–6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13716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Primary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1709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MySQL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2990088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2990088"/>
            <a:ext cx="10972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3099816"/>
            <a:ext cx="11887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108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1546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Auth &amp; Real-time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493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Firebase (Auth + Firestore)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4773168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4773168"/>
            <a:ext cx="10972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4882896"/>
            <a:ext cx="11887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892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93775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File Storage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276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Firebase Storage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1207008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1207008"/>
            <a:ext cx="109728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69880" y="1316736"/>
            <a:ext cx="118872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9880" y="13258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13716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Document Store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1709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MongoDB (metadata)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2990088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0" y="2990088"/>
            <a:ext cx="109728" cy="1600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69880" y="3099816"/>
            <a:ext cx="11887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69880" y="3108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7 extra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31546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Containerization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3493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Docker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4773168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29600" y="4773168"/>
            <a:ext cx="109728" cy="1600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469880" y="4882896"/>
            <a:ext cx="1188720" cy="274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69880" y="4892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Weeks 2–3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493775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Admin Analytics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5276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Pandas + Plotly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914400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Georgia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67512"/>
            <a:ext cx="21945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116128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960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Frontend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170432"/>
            <a:ext cx="4572000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307592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📱 React Native
(Mobile App)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199" y="1170432"/>
            <a:ext cx="4572000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9" y="1307592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🌐 HTML/CSS/JS
(Web Admin)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⬇  REST API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06040"/>
            <a:ext cx="116128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Backend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862072"/>
            <a:ext cx="9235440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999232"/>
            <a:ext cx="9235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⚙️  Flask REST API
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087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⬇  REST API 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97680"/>
            <a:ext cx="116128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343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Data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553712"/>
            <a:ext cx="3017520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469087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🐬 MySQL
(Primary DB)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4553712"/>
            <a:ext cx="3017520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469087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🍃 MongoDB
(Metadata)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4553712"/>
            <a:ext cx="3017520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469087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🔥 Firebase
(Auth+Storage+FCM)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943600"/>
            <a:ext cx="11612880" cy="74980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35040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293B"/>
                </a:solidFill>
                <a:latin typeface="Calibri"/>
              </a:rPr>
              <a:t>📦  Docker containers used for local development &amp; deployment   |   🔑  JWT issued by Flask after Firebase Auth verification   |   📲  FCM push via Firebase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Georgia"/>
              </a:rPr>
              <a:t>Project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67512"/>
            <a:ext cx="21945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2743200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Weeks 1–4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27048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636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Setup &amp;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9967"/>
            <a:ext cx="274320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67128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854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6712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University auth (Firebase + JWT)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0837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9008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Database schema (MySQL + MongoDB)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13048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31335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1304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Flask API skeleton &amp; Docker 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636008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65429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3600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React Native + HTML/JS boilerplate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868680"/>
            <a:ext cx="2743200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896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1170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Weeks 5–8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1527048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15636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Core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2029967"/>
            <a:ext cx="274320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2167128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21854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216712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Report lost &amp; found items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2990088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300837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299008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Photo upload (Firebase Storage)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3813048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3831335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381304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Search &amp; browse with filters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4636008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7560" y="465429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463600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Map view (Google Maps SDK)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868680"/>
            <a:ext cx="2743200" cy="6583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896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1170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Weeks 9–12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1527048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15636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Advanced Features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029967"/>
            <a:ext cx="274320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2167128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21854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216712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Matching engine (rule-based)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2990088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300837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299008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In-app messaging with moderation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3813048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3831335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381304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Claim &amp; verification flow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4636008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465429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63600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Push notifications (FCM)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868680"/>
            <a:ext cx="27432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20" y="896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1170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Weeks 13–16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69680" y="1527048"/>
            <a:ext cx="27432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1120" y="15636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Polish &amp; Launch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69680" y="2029967"/>
            <a:ext cx="274320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06840" y="2167128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06840" y="21854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8320" y="216712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Admin dashboard &amp; analytics (Plotly)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06840" y="2990088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06840" y="300837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299008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UX refinement &amp; testing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06840" y="3813048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06840" y="3831335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8320" y="381304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Bug fixes &amp; performance tuning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06840" y="4636008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06840" y="465429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18320" y="4636008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Final deployment &amp; presentation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63733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2400E"/>
                </a:solidFill>
                <a:latin typeface="Calibri"/>
              </a:rPr>
              <a:t>📅  Project Proposal Deadline:  26 April 2026 at 23:59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0"/>
            <a:ext cx="7315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BAE6FD"/>
                </a:solidFill>
                <a:latin typeface="Calibri"/>
              </a:rPr>
              <a:t>UniFind — Reuniting Students with Their Belongings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Group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[Member 1]  |  [Member 2]  |  [Member 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2190512 Application Development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457200"/>
            <a:ext cx="2103120" cy="2103120"/>
          </a:xfrm>
          <a:prstGeom prst="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0" y="2286000"/>
            <a:ext cx="137160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61320" y="2450592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latin typeface="Calibri"/>
              </a:rPr>
              <a:t>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